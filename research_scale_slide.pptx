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9" r:id="rId4"/>
    <p:sldId id="257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99"/>
    <p:restoredTop sz="94610"/>
  </p:normalViewPr>
  <p:slideViewPr>
    <p:cSldViewPr snapToGrid="0" snapToObjects="1">
      <p:cViewPr>
        <p:scale>
          <a:sx n="128" d="100"/>
          <a:sy n="128" d="100"/>
        </p:scale>
        <p:origin x="1920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8641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D0321-207A-6D88-E069-13567F6C2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406BA6-5F30-A728-4AAE-1AD581D9C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8BEE77-0232-5AAB-B811-D96260D06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5CBA9-894F-C7C7-CEAB-AF2F43A657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766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3897AF2-9F11-A47C-0DF9-48AAE5ED8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7214" y="0"/>
            <a:ext cx="12579214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3DE5623-2404-8611-F2DE-B38ADC191E2B}"/>
              </a:ext>
            </a:extLst>
          </p:cNvPr>
          <p:cNvSpPr txBox="1"/>
          <p:nvPr/>
        </p:nvSpPr>
        <p:spPr>
          <a:xfrm>
            <a:off x="3554118" y="6062870"/>
            <a:ext cx="5083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cs typeface="Segoe UI" panose="020B0502040204020203" pitchFamily="34" charset="0"/>
              </a:rPr>
              <a:t>Presented By: Bikhyat Adhikari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8BF86B-00A2-9AF9-D1C8-89B029D4C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89BE7AA-B60A-7A06-1EC0-8300B58EBAE4}"/>
              </a:ext>
            </a:extLst>
          </p:cNvPr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ED62F06-12CB-CE80-6159-39AF3F95F22D}"/>
              </a:ext>
            </a:extLst>
          </p:cNvPr>
          <p:cNvSpPr txBox="1"/>
          <p:nvPr/>
        </p:nvSpPr>
        <p:spPr>
          <a:xfrm>
            <a:off x="548640" y="7772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Science Is Growing Faster Than Anyone Can Read It</a:t>
            </a:r>
            <a:endParaRPr lang="en-US" sz="3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CD29D58-CAE1-A9A5-2262-97CDC7748E6C}"/>
              </a:ext>
            </a:extLst>
          </p:cNvPr>
          <p:cNvSpPr/>
          <p:nvPr/>
        </p:nvSpPr>
        <p:spPr>
          <a:xfrm>
            <a:off x="655168" y="2286000"/>
            <a:ext cx="5212080" cy="3200400"/>
          </a:xfrm>
          <a:prstGeom prst="roundRect">
            <a:avLst>
              <a:gd name="adj" fmla="val 3429"/>
            </a:avLst>
          </a:prstGeom>
          <a:solidFill>
            <a:srgbClr val="2A3570"/>
          </a:solidFill>
          <a:ln/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researchers.png">
            <a:extLst>
              <a:ext uri="{FF2B5EF4-FFF2-40B4-BE49-F238E27FC236}">
                <a16:creationId xmlns:a16="http://schemas.microsoft.com/office/drawing/2014/main" id="{B43BAFF3-F1B6-6B38-BF99-AB0D9101E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68" y="2697480"/>
            <a:ext cx="640080" cy="64008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E24EF49A-6282-2543-831D-0AF4E3E5D5D7}"/>
              </a:ext>
            </a:extLst>
          </p:cNvPr>
          <p:cNvSpPr txBox="1"/>
          <p:nvPr/>
        </p:nvSpPr>
        <p:spPr>
          <a:xfrm>
            <a:off x="1020928" y="34290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10.25M</a:t>
            </a:r>
            <a:endParaRPr lang="en-US" sz="6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51AC007-E325-1DBB-A8B4-F38C55A3CC55}"/>
              </a:ext>
            </a:extLst>
          </p:cNvPr>
          <p:cNvSpPr txBox="1"/>
          <p:nvPr/>
        </p:nvSpPr>
        <p:spPr>
          <a:xfrm>
            <a:off x="1020928" y="44348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researchers worldwide in 2024 — up 7% in a single year</a:t>
            </a:r>
            <a:endParaRPr lang="en-US" sz="15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ACE0A51-9707-73EB-7DD8-A67755B9E80E}"/>
              </a:ext>
            </a:extLst>
          </p:cNvPr>
          <p:cNvSpPr txBox="1"/>
          <p:nvPr/>
        </p:nvSpPr>
        <p:spPr>
          <a:xfrm>
            <a:off x="1020928" y="50749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C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Scopus author-profile data (Ioannidis/Stanford &amp; Elsevier, 2024)</a:t>
            </a:r>
            <a:endParaRPr lang="en-US" sz="9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349255A-4B2D-B89E-0B6C-139E8F147ADE}"/>
              </a:ext>
            </a:extLst>
          </p:cNvPr>
          <p:cNvSpPr/>
          <p:nvPr/>
        </p:nvSpPr>
        <p:spPr>
          <a:xfrm>
            <a:off x="6324448" y="2286000"/>
            <a:ext cx="5212080" cy="3200400"/>
          </a:xfrm>
          <a:prstGeom prst="roundRect">
            <a:avLst>
              <a:gd name="adj" fmla="val 3429"/>
            </a:avLst>
          </a:prstGeom>
          <a:solidFill>
            <a:srgbClr val="2A3570"/>
          </a:solidFill>
          <a:ln/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_papers.png">
            <a:extLst>
              <a:ext uri="{FF2B5EF4-FFF2-40B4-BE49-F238E27FC236}">
                <a16:creationId xmlns:a16="http://schemas.microsoft.com/office/drawing/2014/main" id="{3BBA9462-856B-F1EA-2547-783AF01B8C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648" y="2697480"/>
            <a:ext cx="640080" cy="640080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3D85CFE3-9CAC-D127-2DE6-2C204C6BB7DC}"/>
              </a:ext>
            </a:extLst>
          </p:cNvPr>
          <p:cNvSpPr txBox="1"/>
          <p:nvPr/>
        </p:nvSpPr>
        <p:spPr>
          <a:xfrm>
            <a:off x="6690208" y="34290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5M+</a:t>
            </a:r>
            <a:endParaRPr lang="en-US" sz="60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89525986-67C2-DED4-589F-1AB896BB9797}"/>
              </a:ext>
            </a:extLst>
          </p:cNvPr>
          <p:cNvSpPr txBox="1"/>
          <p:nvPr/>
        </p:nvSpPr>
        <p:spPr>
          <a:xfrm>
            <a:off x="6690208" y="44348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articles published every year, and growing ~5–6% annually</a:t>
            </a:r>
            <a:endParaRPr lang="en-US" sz="15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3AAAC4BE-B067-B359-4D07-05C9EEEDAD62}"/>
              </a:ext>
            </a:extLst>
          </p:cNvPr>
          <p:cNvSpPr txBox="1"/>
          <p:nvPr/>
        </p:nvSpPr>
        <p:spPr>
          <a:xfrm>
            <a:off x="6690208" y="50749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C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Scopus/Dimensions citable-document counts; STM Report</a:t>
            </a:r>
            <a:endParaRPr lang="en-US" sz="9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D8202071-2185-E275-8644-91A62F47C9B5}"/>
              </a:ext>
            </a:extLst>
          </p:cNvPr>
          <p:cNvSpPr txBox="1"/>
          <p:nvPr/>
        </p:nvSpPr>
        <p:spPr>
          <a:xfrm>
            <a:off x="548640" y="5806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researchers is trying to find, screen, and synthesize a literature that grows faster than any human 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manual workflow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keep up with.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98851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A88692-43B3-1199-0644-AEB9BF458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980504" cy="6863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969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AI-ASSISTED TOOLING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Review, More Than a Year of Manual Work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average, researchers screen hundreds of papers to find the </a:t>
            </a: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~3% that qualify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then still have to read, extract, and write up every one of them by hand.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2A3570"/>
          </a:solidFill>
          <a:ln/>
          <a:effectLst>
            <a:outerShdw blurRad="1270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" y="2404872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13232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8" name="Image 0" descr="icon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29260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3611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Search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4114800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criteria, build a search strategy, run it across databases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77240" y="50292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777240" y="50292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14–22 wks</a:t>
            </a:r>
            <a:endParaRPr lang="en-US" sz="1100" dirty="0"/>
          </a:p>
        </p:txBody>
      </p:sp>
      <p:pic>
        <p:nvPicPr>
          <p:cNvPr id="13" name="Image 1" descr="icon_chevr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0904" y="3735324"/>
            <a:ext cx="256032" cy="25603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816352" y="2240280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2A3570"/>
          </a:solidFill>
          <a:ln/>
          <a:effectLst>
            <a:outerShdw blurRad="1270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2980944" y="2404872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2980944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17" name="Image 2" descr="icon_fil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0732" y="292608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953512" y="3611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Papers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2980944" y="4114800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Title/abstract, then full-text screening — by hand, paper by paper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044952" y="50292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 txBox="1"/>
          <p:nvPr/>
        </p:nvSpPr>
        <p:spPr>
          <a:xfrm>
            <a:off x="3044952" y="50292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wks</a:t>
            </a:r>
            <a:endParaRPr lang="en-US" sz="1100" dirty="0"/>
          </a:p>
        </p:txBody>
      </p:sp>
      <p:pic>
        <p:nvPicPr>
          <p:cNvPr id="22" name="Image 3" descr="icon_chevr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3735324"/>
            <a:ext cx="256032" cy="256032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5084064" y="2240280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2A3570"/>
          </a:solidFill>
          <a:ln/>
          <a:effectLst>
            <a:outerShdw blurRad="1270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5248656" y="2404872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5248656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26" name="Image 4" descr="icon_apprais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8444" y="2926080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21224" y="3611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Appraisal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5248656" y="4114800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study quality and risk of bias for every included paper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5312664" y="50292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 txBox="1"/>
          <p:nvPr/>
        </p:nvSpPr>
        <p:spPr>
          <a:xfrm>
            <a:off x="5312664" y="50292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wks</a:t>
            </a:r>
            <a:endParaRPr lang="en-US" sz="1100" dirty="0"/>
          </a:p>
        </p:txBody>
      </p:sp>
      <p:pic>
        <p:nvPicPr>
          <p:cNvPr id="31" name="Image 5" descr="icon_chevr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328" y="3735324"/>
            <a:ext cx="256032" cy="256032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7351776" y="2240280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2A3570"/>
          </a:solidFill>
          <a:ln/>
          <a:effectLst>
            <a:outerShdw blurRad="1270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5"/>
          <p:cNvSpPr/>
          <p:nvPr/>
        </p:nvSpPr>
        <p:spPr>
          <a:xfrm>
            <a:off x="7516368" y="2404872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6"/>
          <p:cNvSpPr txBox="1"/>
          <p:nvPr/>
        </p:nvSpPr>
        <p:spPr>
          <a:xfrm>
            <a:off x="7516368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35" name="Image 6" descr="icon_extrac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6156" y="2926080"/>
            <a:ext cx="502920" cy="50292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7488936" y="3611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Data</a:t>
            </a:r>
            <a:endParaRPr lang="en-US" sz="1400" dirty="0"/>
          </a:p>
        </p:txBody>
      </p:sp>
      <p:sp>
        <p:nvSpPr>
          <p:cNvPr id="37" name="Text 28"/>
          <p:cNvSpPr txBox="1"/>
          <p:nvPr/>
        </p:nvSpPr>
        <p:spPr>
          <a:xfrm>
            <a:off x="7516368" y="4114800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same fields from each paper into a spreadsheet by hand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580376" y="50292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0"/>
          <p:cNvSpPr txBox="1"/>
          <p:nvPr/>
        </p:nvSpPr>
        <p:spPr>
          <a:xfrm>
            <a:off x="7580376" y="50292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wks</a:t>
            </a:r>
            <a:endParaRPr lang="en-US" sz="1100" dirty="0"/>
          </a:p>
        </p:txBody>
      </p:sp>
      <p:pic>
        <p:nvPicPr>
          <p:cNvPr id="40" name="Image 7" descr="icon_chevr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3735324"/>
            <a:ext cx="256032" cy="256032"/>
          </a:xfrm>
          <a:prstGeom prst="rect">
            <a:avLst/>
          </a:prstGeom>
        </p:spPr>
      </p:pic>
      <p:sp>
        <p:nvSpPr>
          <p:cNvPr id="41" name="Shape 31"/>
          <p:cNvSpPr/>
          <p:nvPr/>
        </p:nvSpPr>
        <p:spPr>
          <a:xfrm>
            <a:off x="9619488" y="2240280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2A3570"/>
          </a:solidFill>
          <a:ln/>
          <a:effectLst>
            <a:outerShdw blurRad="1270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2"/>
          <p:cNvSpPr/>
          <p:nvPr/>
        </p:nvSpPr>
        <p:spPr>
          <a:xfrm>
            <a:off x="9784080" y="2404872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3"/>
          <p:cNvSpPr txBox="1"/>
          <p:nvPr/>
        </p:nvSpPr>
        <p:spPr>
          <a:xfrm>
            <a:off x="9784080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pic>
        <p:nvPicPr>
          <p:cNvPr id="44" name="Image 8" descr="icon_wr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73868" y="2926080"/>
            <a:ext cx="502920" cy="502920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9756648" y="3611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&amp; Synthesize</a:t>
            </a:r>
            <a:endParaRPr lang="en-US" sz="1400" dirty="0"/>
          </a:p>
        </p:txBody>
      </p:sp>
      <p:sp>
        <p:nvSpPr>
          <p:cNvPr id="46" name="Text 35"/>
          <p:cNvSpPr txBox="1"/>
          <p:nvPr/>
        </p:nvSpPr>
        <p:spPr>
          <a:xfrm>
            <a:off x="9784080" y="4114800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extracted notes into a coherent, citable review narrative</a:t>
            </a:r>
            <a:endParaRPr lang="en-US" sz="1000" dirty="0"/>
          </a:p>
        </p:txBody>
      </p:sp>
      <p:sp>
        <p:nvSpPr>
          <p:cNvPr id="47" name="Shape 36"/>
          <p:cNvSpPr/>
          <p:nvPr/>
        </p:nvSpPr>
        <p:spPr>
          <a:xfrm>
            <a:off x="9848088" y="50292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37"/>
          <p:cNvSpPr txBox="1"/>
          <p:nvPr/>
        </p:nvSpPr>
        <p:spPr>
          <a:xfrm>
            <a:off x="9848088" y="50292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wks</a:t>
            </a:r>
            <a:endParaRPr lang="en-US" sz="1100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0D9A0CE-2F9D-F9D3-5803-A9BE9DD1A424}"/>
              </a:ext>
            </a:extLst>
          </p:cNvPr>
          <p:cNvGrpSpPr/>
          <p:nvPr/>
        </p:nvGrpSpPr>
        <p:grpSpPr>
          <a:xfrm>
            <a:off x="548640" y="5760720"/>
            <a:ext cx="11094415" cy="685800"/>
            <a:chOff x="548640" y="5760720"/>
            <a:chExt cx="11094415" cy="685800"/>
          </a:xfrm>
        </p:grpSpPr>
        <p:sp>
          <p:nvSpPr>
            <p:cNvPr id="49" name="Shape 38"/>
            <p:cNvSpPr/>
            <p:nvPr/>
          </p:nvSpPr>
          <p:spPr>
            <a:xfrm>
              <a:off x="548640" y="5760720"/>
              <a:ext cx="11094415" cy="685800"/>
            </a:xfrm>
            <a:prstGeom prst="roundRect">
              <a:avLst>
                <a:gd name="adj" fmla="val 10667"/>
              </a:avLst>
            </a:prstGeom>
            <a:solidFill>
              <a:srgbClr val="16205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39"/>
            <p:cNvSpPr txBox="1"/>
            <p:nvPr/>
          </p:nvSpPr>
          <p:spPr>
            <a:xfrm>
              <a:off x="822960" y="5760720"/>
              <a:ext cx="77724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E8A3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~67 weeks (1.3 years)  </a:t>
              </a:r>
              <a:r>
                <a:rPr lang="en-US" sz="13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 average, for a team of 5 researchers to complete one systematic review.</a:t>
              </a:r>
              <a:endParaRPr lang="en-US" sz="1600" dirty="0"/>
            </a:p>
          </p:txBody>
        </p:sp>
        <p:sp>
          <p:nvSpPr>
            <p:cNvPr id="51" name="Text 40"/>
            <p:cNvSpPr txBox="1"/>
            <p:nvPr/>
          </p:nvSpPr>
          <p:spPr>
            <a:xfrm>
              <a:off x="8412480" y="5760720"/>
              <a:ext cx="301752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i="1" dirty="0">
                  <a:solidFill>
                    <a:srgbClr val="8C9BC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Source: Borah et al., BMJ Open (2017); ATSU/Cornell systematic review timelines</a:t>
              </a:r>
              <a:endParaRPr lang="en-US" sz="85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2409</TotalTime>
  <Words>273</Words>
  <Application>Microsoft Macintosh PowerPoint</Application>
  <PresentationFormat>Widescreen</PresentationFormat>
  <Paragraphs>38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Cambria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Bikhyat Adhikari</cp:lastModifiedBy>
  <cp:revision>5</cp:revision>
  <dcterms:created xsi:type="dcterms:W3CDTF">2026-09-27T08:58:53Z</dcterms:created>
  <dcterms:modified xsi:type="dcterms:W3CDTF">2026-09-29T01:14:25Z</dcterms:modified>
</cp:coreProperties>
</file>